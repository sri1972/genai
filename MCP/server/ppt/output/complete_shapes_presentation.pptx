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Planning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2024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completed all major initiatives</a:t>
            </a:r>
          </a:p>
          <a:p>
            <a:pPr/>
            <a:r>
              <a:t>Exceeded revenue targets by 15%</a:t>
            </a:r>
          </a:p>
          <a:p>
            <a:pPr/>
            <a:r>
              <a:t>Launched 3 new product features</a:t>
            </a:r>
          </a:p>
          <a:p>
            <a:pPr/>
            <a:r>
              <a:t>Expanded team by 20 members</a:t>
            </a:r>
          </a:p>
          <a:p>
            <a:pPr/>
            <a:r>
              <a:t>Improved customer satisfaction to 92%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Development Process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2743200"/>
            <a:ext cx="1645920" cy="1371600"/>
          </a:xfrm>
          <a:prstGeom prst="chevr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4" name="Chevron 3"/>
          <p:cNvSpPr/>
          <p:nvPr/>
        </p:nvSpPr>
        <p:spPr>
          <a:xfrm>
            <a:off x="2103120" y="2743200"/>
            <a:ext cx="1645920" cy="1371600"/>
          </a:xfrm>
          <a:prstGeom prst="chevron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3749040" y="2743200"/>
            <a:ext cx="1645920" cy="1371600"/>
          </a:xfrm>
          <a:prstGeom prst="chevr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Development</a:t>
            </a:r>
          </a:p>
        </p:txBody>
      </p:sp>
      <p:sp>
        <p:nvSpPr>
          <p:cNvPr id="6" name="Chevron 5"/>
          <p:cNvSpPr/>
          <p:nvPr/>
        </p:nvSpPr>
        <p:spPr>
          <a:xfrm>
            <a:off x="5394960" y="2743200"/>
            <a:ext cx="1645920" cy="1371600"/>
          </a:xfrm>
          <a:prstGeom prst="chevron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Launch</a:t>
            </a:r>
          </a:p>
        </p:txBody>
      </p:sp>
      <p:sp>
        <p:nvSpPr>
          <p:cNvPr id="7" name="Chevron 6"/>
          <p:cNvSpPr/>
          <p:nvPr/>
        </p:nvSpPr>
        <p:spPr>
          <a:xfrm>
            <a:off x="7040880" y="2743200"/>
            <a:ext cx="1645920" cy="1371600"/>
          </a:xfrm>
          <a:prstGeom prst="chevr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Iterate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200400"/>
            <a:ext cx="7315200" cy="0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77240" y="3063240"/>
            <a:ext cx="274320" cy="274320"/>
          </a:xfrm>
          <a:prstGeom prst="ellipse">
            <a:avLst/>
          </a:prstGeom>
          <a:solidFill>
            <a:srgbClr val="4472C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474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Feature A Launch</a:t>
            </a:r>
          </a:p>
        </p:txBody>
      </p:sp>
      <p:sp>
        <p:nvSpPr>
          <p:cNvPr id="7" name="Oval 6"/>
          <p:cNvSpPr/>
          <p:nvPr/>
        </p:nvSpPr>
        <p:spPr>
          <a:xfrm>
            <a:off x="2606040" y="3063240"/>
            <a:ext cx="274320" cy="274320"/>
          </a:xfrm>
          <a:prstGeom prst="ellipse">
            <a:avLst/>
          </a:prstGeom>
          <a:solidFill>
            <a:srgbClr val="4472C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474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Market Expansion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3063240"/>
            <a:ext cx="274320" cy="274320"/>
          </a:xfrm>
          <a:prstGeom prst="ellipse">
            <a:avLst/>
          </a:prstGeom>
          <a:solidFill>
            <a:srgbClr val="4472C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Jun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474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Platform V2.0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3063240"/>
            <a:ext cx="274320" cy="274320"/>
          </a:xfrm>
          <a:prstGeom prst="ellipse">
            <a:avLst/>
          </a:prstGeom>
          <a:solidFill>
            <a:srgbClr val="4472C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474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Mobile App Release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3063240"/>
            <a:ext cx="274320" cy="274320"/>
          </a:xfrm>
          <a:prstGeom prst="ellipse">
            <a:avLst/>
          </a:prstGeom>
          <a:solidFill>
            <a:srgbClr val="4472C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Dec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474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Year-End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Success Framework</a:t>
            </a:r>
          </a:p>
        </p:txBody>
      </p:sp>
      <p:sp>
        <p:nvSpPr>
          <p:cNvPr id="3" name="Oval 2"/>
          <p:cNvSpPr/>
          <p:nvPr/>
        </p:nvSpPr>
        <p:spPr>
          <a:xfrm>
            <a:off x="4023360" y="1234440"/>
            <a:ext cx="1097280" cy="7315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Onboard</a:t>
            </a:r>
          </a:p>
        </p:txBody>
      </p:sp>
      <p:sp>
        <p:nvSpPr>
          <p:cNvPr id="4" name="Oval 3"/>
          <p:cNvSpPr/>
          <p:nvPr/>
        </p:nvSpPr>
        <p:spPr>
          <a:xfrm>
            <a:off x="5762652" y="2498109"/>
            <a:ext cx="1097280" cy="73152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Engage</a:t>
            </a:r>
          </a:p>
        </p:txBody>
      </p:sp>
      <p:sp>
        <p:nvSpPr>
          <p:cNvPr id="5" name="Oval 4"/>
          <p:cNvSpPr/>
          <p:nvPr/>
        </p:nvSpPr>
        <p:spPr>
          <a:xfrm>
            <a:off x="5098301" y="4542770"/>
            <a:ext cx="1097280" cy="73152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Support</a:t>
            </a:r>
          </a:p>
        </p:txBody>
      </p:sp>
      <p:sp>
        <p:nvSpPr>
          <p:cNvPr id="6" name="Oval 5"/>
          <p:cNvSpPr/>
          <p:nvPr/>
        </p:nvSpPr>
        <p:spPr>
          <a:xfrm>
            <a:off x="2948418" y="4542770"/>
            <a:ext cx="1097280" cy="7315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Retain</a:t>
            </a:r>
          </a:p>
        </p:txBody>
      </p:sp>
      <p:sp>
        <p:nvSpPr>
          <p:cNvPr id="7" name="Oval 6"/>
          <p:cNvSpPr/>
          <p:nvPr/>
        </p:nvSpPr>
        <p:spPr>
          <a:xfrm>
            <a:off x="2284067" y="2498109"/>
            <a:ext cx="1097280" cy="7315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Expand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474720" cy="195453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High Impact</a:t>
            </a:r>
          </a:p>
          <a:p>
            <a:r>
              <a:t>High Effort</a:t>
            </a:r>
          </a:p>
          <a:p>
            <a:r>
              <a:t>• Major features</a:t>
            </a:r>
          </a:p>
          <a:p>
            <a:r>
              <a:t>• Platform rebuild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474720" cy="195453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High Impact</a:t>
            </a:r>
          </a:p>
          <a:p>
            <a:r>
              <a:t>Low Effort</a:t>
            </a:r>
          </a:p>
          <a:p>
            <a:r>
              <a:t>• Quick wins</a:t>
            </a:r>
          </a:p>
          <a:p>
            <a:r>
              <a:t>• Bug fixes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86200"/>
            <a:ext cx="3474720" cy="195453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Low Impact</a:t>
            </a:r>
          </a:p>
          <a:p>
            <a:r>
              <a:t>High Effort</a:t>
            </a:r>
          </a:p>
          <a:p>
            <a:r>
              <a:t>• Nice-to-haves</a:t>
            </a:r>
          </a:p>
          <a:p>
            <a:r>
              <a:t>• Future considerations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886200"/>
            <a:ext cx="3474720" cy="195453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Low Impact</a:t>
            </a:r>
          </a:p>
          <a:p>
            <a:r>
              <a:t>Low Effort</a:t>
            </a:r>
          </a:p>
          <a:p>
            <a:r>
              <a:t>• Minor improvements</a:t>
            </a:r>
          </a:p>
          <a:p>
            <a:r>
              <a:t>• Cosmetic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Adoption</a:t>
            </a:r>
          </a:p>
        </p:txBody>
      </p:sp>
      <p:sp>
        <p:nvSpPr>
          <p:cNvPr id="3" name="Trapezoid 2"/>
          <p:cNvSpPr/>
          <p:nvPr/>
        </p:nvSpPr>
        <p:spPr>
          <a:xfrm>
            <a:off x="1371600" y="1828800"/>
            <a:ext cx="6400800" cy="1028700"/>
          </a:xfrm>
          <a:prstGeom prst="trapezoid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Power Users (5%)</a:t>
            </a:r>
          </a:p>
        </p:txBody>
      </p:sp>
      <p:sp>
        <p:nvSpPr>
          <p:cNvPr id="4" name="Trapezoid 3"/>
          <p:cNvSpPr/>
          <p:nvPr/>
        </p:nvSpPr>
        <p:spPr>
          <a:xfrm>
            <a:off x="1851660" y="2971800"/>
            <a:ext cx="5440680" cy="1028700"/>
          </a:xfrm>
          <a:prstGeom prst="trapezoid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Active Users (20%)</a:t>
            </a:r>
          </a:p>
        </p:txBody>
      </p:sp>
      <p:sp>
        <p:nvSpPr>
          <p:cNvPr id="5" name="Trapezoid 4"/>
          <p:cNvSpPr/>
          <p:nvPr/>
        </p:nvSpPr>
        <p:spPr>
          <a:xfrm>
            <a:off x="2331720" y="4114800"/>
            <a:ext cx="4480560" cy="1028700"/>
          </a:xfrm>
          <a:prstGeom prst="trapezoid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Regular Users (35%)</a:t>
            </a:r>
          </a:p>
        </p:txBody>
      </p:sp>
      <p:sp>
        <p:nvSpPr>
          <p:cNvPr id="6" name="Trapezoid 5"/>
          <p:cNvSpPr/>
          <p:nvPr/>
        </p:nvSpPr>
        <p:spPr>
          <a:xfrm>
            <a:off x="2811780" y="5257800"/>
            <a:ext cx="3520440" cy="1028700"/>
          </a:xfrm>
          <a:prstGeom prst="trapezoid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Occasional Users (40%)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