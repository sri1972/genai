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Sales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Performance Review &amp; Key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Key Metrics Dashboard</a:t>
            </a:r>
          </a:p>
        </p:txBody>
      </p:sp>
      <p:sp>
        <p:nvSpPr>
          <p:cNvPr id="3" name="Oval 2"/>
          <p:cNvSpPr/>
          <p:nvPr/>
        </p:nvSpPr>
        <p:spPr>
          <a:xfrm>
            <a:off x="1371600" y="2286000"/>
            <a:ext cx="2286000" cy="2286000"/>
          </a:xfrm>
          <a:prstGeom prst="ellipse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$5.2M</a:t>
            </a:r>
          </a:p>
          <a:p>
            <a:r>
              <a:t>Revenue</a:t>
            </a:r>
          </a:p>
        </p:txBody>
      </p:sp>
      <p:sp>
        <p:nvSpPr>
          <p:cNvPr id="4" name="Oval 3"/>
          <p:cNvSpPr/>
          <p:nvPr/>
        </p:nvSpPr>
        <p:spPr>
          <a:xfrm>
            <a:off x="3657600" y="2286000"/>
            <a:ext cx="2286000" cy="2286000"/>
          </a:xfrm>
          <a:prstGeom prst="ellipse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1.8M</a:t>
            </a:r>
          </a:p>
          <a:p>
            <a:r>
              <a:t>Customers</a:t>
            </a:r>
          </a:p>
        </p:txBody>
      </p:sp>
      <p:sp>
        <p:nvSpPr>
          <p:cNvPr id="5" name="Oval 4"/>
          <p:cNvSpPr/>
          <p:nvPr/>
        </p:nvSpPr>
        <p:spPr>
          <a:xfrm>
            <a:off x="5943600" y="2286000"/>
            <a:ext cx="2286000" cy="22860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</a:defRPr>
            </a:pPr>
            <a:r>
              <a:t>95%</a:t>
            </a:r>
          </a:p>
          <a:p>
            <a:r>
              <a:t>Satisfaction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Organization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457200"/>
            <a:ext cx="1828800" cy="73152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Sales VP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645920" cy="73152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North</a:t>
            </a:r>
          </a:p>
          <a:p>
            <a:r>
              <a:t>Regional Mgr</a:t>
            </a:r>
          </a:p>
        </p:txBody>
      </p:sp>
      <p:sp>
        <p:nvSpPr>
          <p:cNvPr id="5" name="Rectangle 4"/>
          <p:cNvSpPr/>
          <p:nvPr/>
        </p:nvSpPr>
        <p:spPr>
          <a:xfrm>
            <a:off x="3749039" y="2286000"/>
            <a:ext cx="1645920" cy="73152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South</a:t>
            </a:r>
          </a:p>
          <a:p>
            <a:r>
              <a:t>Regional Mgr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2286000"/>
            <a:ext cx="1645920" cy="731520"/>
          </a:xfrm>
          <a:prstGeom prst="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East</a:t>
            </a:r>
          </a:p>
          <a:p>
            <a:r>
              <a:t>Regional Mgr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" y="4114800"/>
            <a:ext cx="118872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Sales Rep</a:t>
            </a:r>
          </a:p>
        </p:txBody>
      </p:sp>
      <p:sp>
        <p:nvSpPr>
          <p:cNvPr id="8" name="Rectangle 7"/>
          <p:cNvSpPr/>
          <p:nvPr/>
        </p:nvSpPr>
        <p:spPr>
          <a:xfrm>
            <a:off x="1645920" y="4114800"/>
            <a:ext cx="118872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Sales Rep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0" y="4114800"/>
            <a:ext cx="118872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Sales Rep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4114800"/>
            <a:ext cx="118872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Sales Rep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114800"/>
            <a:ext cx="118872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Sales Rep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79" y="4114800"/>
            <a:ext cx="1188720" cy="548640"/>
          </a:xfrm>
          <a:prstGeom prst="rect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Sales Rep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Process Flow</a:t>
            </a:r>
          </a:p>
        </p:txBody>
      </p:sp>
      <p:sp>
        <p:nvSpPr>
          <p:cNvPr id="3" name="Chevron 2"/>
          <p:cNvSpPr/>
          <p:nvPr/>
        </p:nvSpPr>
        <p:spPr>
          <a:xfrm>
            <a:off x="457200" y="2743200"/>
            <a:ext cx="1645920" cy="1371600"/>
          </a:xfrm>
          <a:prstGeom prst="chevr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Lead Generation</a:t>
            </a:r>
          </a:p>
        </p:txBody>
      </p:sp>
      <p:sp>
        <p:nvSpPr>
          <p:cNvPr id="4" name="Chevron 3"/>
          <p:cNvSpPr/>
          <p:nvPr/>
        </p:nvSpPr>
        <p:spPr>
          <a:xfrm>
            <a:off x="2103120" y="2743200"/>
            <a:ext cx="1645920" cy="1371600"/>
          </a:xfrm>
          <a:prstGeom prst="chevron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Qualification</a:t>
            </a:r>
          </a:p>
        </p:txBody>
      </p:sp>
      <p:sp>
        <p:nvSpPr>
          <p:cNvPr id="5" name="Chevron 4"/>
          <p:cNvSpPr/>
          <p:nvPr/>
        </p:nvSpPr>
        <p:spPr>
          <a:xfrm>
            <a:off x="3749040" y="2743200"/>
            <a:ext cx="1645920" cy="1371600"/>
          </a:xfrm>
          <a:prstGeom prst="chevr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6" name="Chevron 5"/>
          <p:cNvSpPr/>
          <p:nvPr/>
        </p:nvSpPr>
        <p:spPr>
          <a:xfrm>
            <a:off x="5394960" y="2743200"/>
            <a:ext cx="1645920" cy="1371600"/>
          </a:xfrm>
          <a:prstGeom prst="chevron">
            <a:avLst/>
          </a:prstGeom>
          <a:solidFill>
            <a:srgbClr val="70AD4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Proposal</a:t>
            </a:r>
          </a:p>
        </p:txBody>
      </p:sp>
      <p:sp>
        <p:nvSpPr>
          <p:cNvPr id="7" name="Chevron 6"/>
          <p:cNvSpPr/>
          <p:nvPr/>
        </p:nvSpPr>
        <p:spPr>
          <a:xfrm>
            <a:off x="7040880" y="2743200"/>
            <a:ext cx="1645920" cy="1371600"/>
          </a:xfrm>
          <a:prstGeom prst="chevron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Close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Hire 3 new reps</a:t>
            </a:r>
          </a:p>
          <a:p>
            <a:pPr/>
            <a:r>
              <a:t>Expand to Midwest</a:t>
            </a:r>
          </a:p>
          <a:p>
            <a:pPr/>
            <a:r>
              <a:t>Launch new product line</a:t>
            </a:r>
          </a:p>
          <a:p>
            <a:pPr/>
            <a:r>
              <a:t>Increase marketing budget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