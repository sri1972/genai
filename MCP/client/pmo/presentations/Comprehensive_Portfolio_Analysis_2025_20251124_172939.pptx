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PMO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Portfolio, Product Line &amp; Project Investment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Portfolio Investment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TOTAL PMO INVESTMENT: $192,910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Strategic Distribution: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Auto Insights: $75,158 (39%) - Innovation Leader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Market &amp; Sell: $65,163 (34%) - Diversified Growth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Vehicles In Use: $50,453 (26%) - Modernization Focus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Plan &amp; Build: $2,136 (1%) - Minimal Allocation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Project Activity: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8 Active Projects with Resource Allocation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10 Projects with Zero Allocation (Planning Gaps)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18 Total Projects in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Distribution Visualization</a:t>
            </a:r>
          </a:p>
        </p:txBody>
      </p:sp>
      <p:pic>
        <p:nvPicPr>
          <p:cNvPr id="3" name="Picture 2" descr="project_planned_costs_by_portfolio_product_line_an_packed_d3_20251124_115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8511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Auto Insights Portfolio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PORTFOLIO METRICS: $75,158 | 39% of Total Budget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Product Line Strategy: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Cross-Product Focus: 100% investment concentration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Innovation-Driven: Vitality + Strategic + AIM alignment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Project Portfolio: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Time To Insight: $75,158 (Primary Investment)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Timeline: May 2025 - December 2025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Business Impact: Revenue growth enabler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Resource: 1,565.8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Strategic Considerations: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Single project risk concentration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High-value transformation initiative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Cross-functional product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Market &amp; Sell Portfolio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PORTFOLIO METRICS: $65,163 | 34% of Total Budget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Product Line Distribution: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PAS: $38,237 (59% of M&amp;S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NA Industry Performance: $25,286 (39% of M&amp;S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Commercial: $835 (1% of M&amp;S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Key Projects by Product Line: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Fleet Intelligence (PAS): $24,720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New platform replacing TipNet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Jan-Jul 2025 timeline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Concept Memo (NA Industry): $25,286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Custom segmentation initiative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Jul-Dec 2025 strategic project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Blade Runner 3.0 (Multi-line): $14,352 total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Cloud native refactoring across product 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Vehicles In Use Portfolio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PORTFOLIO METRICS: $50,453 | 26% of Total Budget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VIN Solutions Concentration: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100% investment in single product line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Modernization and cloud transformation focus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Project Investment Breakdown: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Blade Runner 3.0: $25,027 (50% of portfolio)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VMC to Cloud Native refactoring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Full year 2025 timeline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Cloud 2.0: $22,901 (45% of portfolio)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VIS modernization initiative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Jan-Jul 2025 accelerated delivery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Concord Standards: $2,525 (5% of portfolio)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Infrastructure standardization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Strategic Focus Areas: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Legacy system modernization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Cloud-first architecture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Operational efficiency gains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Plan &amp; Build Portfolio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PORTFOLIO METRICS: $2,136 | 1% of Total Budget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Underinvestment Analysis: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Smallest portfolio allocation in PMO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Single active project concentration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Potential capacity for expansion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Current Project Focus: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Fast 1.2.1 Forecast Export/Import: $2,136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Vehicle Powertrain enhancement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Dec 2024 - May 2025 timeline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Currently Work In Progress (Green RAG)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  - 44.5 planned hours allocation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Strategic Considerations: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Underutilized portfolio potential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Opportunity for increased investment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Critical infrastructure needs assessment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Technology &amp; Strategic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TECHNOLOGY PROJECT DISTRIBUTION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Technology Classification: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Technology Projects: 11 out of 18 (61%)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Business Projects: 7 out of 18 (39%)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Technology Investment: Majority of budget allocation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Strategic Value Indicators: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Strategic Projects: 8 marked as strategic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Vitality Projects: 2 designated (Time To Insight, Fast 1.2.1)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AIM Projects: 4 with AIM alignment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Project Type Distribution: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Blade Runner (Modernization): 6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New Product Development: 3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Enhancement/Efficiency: 3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Standards Implementation: 2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Resource Allocation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WORKFORCE DISTRIBUTION PATTERNS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Role-Based Allocation: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Full Stack Developers: Primary resource type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Business Analysts: Strategic project support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Data Engineers: Specialized project needs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VP Technology: Executive oversight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Key Resource Observations: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Jasveer Singh: Multi-project allocation (5 projects)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Aditi Sharma: Cross-portfolio assignments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Saurabh Jain: VIN Solutions specialist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Resource concentration in Market &amp; Sell portfolio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Capacity Management Issues: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Q1 2025: Over-allocation concerns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Q2 2025: Under-utilization opportunities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August 2025: Capacity planning conflicts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Risk Assessment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CC0000"/>
                </a:solidFill>
              </a:defRPr>
            </a:pPr>
            <a:r>
              <a:t>■ PORTFOLIO RISK FACTORS</a:t>
            </a:r>
          </a:p>
          <a:p>
            <a:pPr>
              <a:defRPr sz="1600">
                <a:solidFill>
                  <a:srgbClr val="CC0000"/>
                </a:solidFill>
              </a:defRPr>
            </a:pP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▸ Investment Concentration Risks: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Auto Insights: Single project dependency ($75K)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Plan &amp; Build: Underinvestment exposure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Resource over-allocation in Q1 2025</a:t>
            </a:r>
          </a:p>
          <a:p>
            <a:pPr>
              <a:defRPr sz="1600">
                <a:solidFill>
                  <a:srgbClr val="CC0000"/>
                </a:solidFill>
              </a:defRPr>
            </a:pP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▸ Operational Challenges: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10 projects with zero resource allocation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Timeline conflicts across portfolios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Capacity planning inconsistencies</a:t>
            </a:r>
          </a:p>
          <a:p>
            <a:pPr>
              <a:defRPr sz="1600">
                <a:solidFill>
                  <a:srgbClr val="CC0000"/>
                </a:solidFill>
              </a:defRPr>
            </a:pP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▸ Strategic Risks: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Technology project dependency (61% of portfolio)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Cross-portfolio resource competition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Limited diversification in Plan &amp; Build</a:t>
            </a:r>
          </a:p>
          <a:p>
            <a:pPr>
              <a:defRPr sz="1600">
                <a:solidFill>
                  <a:srgbClr val="CC0000"/>
                </a:solidFill>
              </a:defRPr>
            </a:pP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▸ Mitigation Requirements: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Quarterly capacity reviews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Portfolio rebalancing initiatives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  • Backup resource identification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■ IMMEDIATE ACTIONS (Q1 2025)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Resource Optimization: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Resolve Q1 over-allocation conflicts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Address zero-allocation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Implement monthly capacity reviews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Portfolio Rebalancing: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Increase Plan &amp; Build investment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Diversify Auto Insights project portfolio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Optimize Q2 under-utilization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■ MEDIUM-TERM STRATEGY (Q2-Q4 2025)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Investment Diversification: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Expand Plan &amp; Build portfolio (target 5-10%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Add secondary projects to Auto Insights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Balance technology vs. business project mix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▸ Operational Excellence: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Standardize project planning processes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Implement portfolio governance framework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Establish cross-portfolio resource sharing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- 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609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Active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%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Top Project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Auto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To Insight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Market &amp; 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$65,163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Fleet Intelligence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Vehicles In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$50,453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Blade Runner 3.0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Plan &amp;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 1.2.1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TOTALS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Multi-Portfolio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